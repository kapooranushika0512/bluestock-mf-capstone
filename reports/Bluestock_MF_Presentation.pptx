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71453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86"/>
    <p:restoredTop sz="94627"/>
  </p:normalViewPr>
  <p:slideViewPr>
    <p:cSldViewPr snapToGrid="0">
      <p:cViewPr varScale="1">
        <p:scale>
          <a:sx n="105" d="100"/>
          <a:sy n="105" d="100"/>
        </p:scale>
        <p:origin x="3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9" y="1863387"/>
            <a:ext cx="8361229" cy="2186138"/>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7" y="4122041"/>
            <a:ext cx="6831673" cy="1131748"/>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723771"/>
            <a:ext cx="1607944" cy="421567"/>
          </a:xfrm>
        </p:spPr>
        <p:txBody>
          <a:bodyPr/>
          <a:lstStyle>
            <a:lvl1pPr>
              <a:defRPr baseline="0">
                <a:solidFill>
                  <a:schemeClr val="tx2"/>
                </a:solidFill>
              </a:defRPr>
            </a:lvl1pPr>
          </a:lstStyle>
          <a:p>
            <a:fld id="{87DE6118-2437-4B30-8E3C-4D2BE6020583}" type="datetimeFigureOut">
              <a:rPr lang="en-US" smtClean="0"/>
              <a:pPr/>
              <a:t>6/11/26</a:t>
            </a:fld>
            <a:endParaRPr lang="en-US" dirty="0"/>
          </a:p>
        </p:txBody>
      </p:sp>
      <p:sp>
        <p:nvSpPr>
          <p:cNvPr id="5" name="Footer Placeholder 4"/>
          <p:cNvSpPr>
            <a:spLocks noGrp="1"/>
          </p:cNvSpPr>
          <p:nvPr>
            <p:ph type="ftr" sz="quarter" idx="11"/>
          </p:nvPr>
        </p:nvSpPr>
        <p:spPr>
          <a:xfrm>
            <a:off x="2584055" y="6723771"/>
            <a:ext cx="7023377" cy="421567"/>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723771"/>
            <a:ext cx="1596292" cy="421567"/>
          </a:xfrm>
        </p:spPr>
        <p:txBody>
          <a:bodyPr/>
          <a:lstStyle>
            <a:lvl1pPr>
              <a:defRPr baseline="0">
                <a:solidFill>
                  <a:schemeClr val="tx2"/>
                </a:solidFill>
              </a:defRPr>
            </a:lvl1pPr>
          </a:lstStyle>
          <a:p>
            <a:fld id="{69E57DC2-970A-4B3E-BB1C-7A09969E49DF}" type="slidenum">
              <a:rPr lang="en-US" smtClean="0"/>
              <a:pPr/>
              <a:t>‹#›</a:t>
            </a:fld>
            <a:endParaRPr lang="en-US" dirty="0"/>
          </a:p>
        </p:txBody>
      </p:sp>
      <p:grpSp>
        <p:nvGrpSpPr>
          <p:cNvPr id="7" name="Group 6"/>
          <p:cNvGrpSpPr/>
          <p:nvPr/>
        </p:nvGrpSpPr>
        <p:grpSpPr>
          <a:xfrm>
            <a:off x="752858" y="775661"/>
            <a:ext cx="10674117" cy="5573813"/>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14386085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177420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55885"/>
            <a:ext cx="9612971" cy="2972262"/>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392985"/>
            <a:ext cx="9612971" cy="1191227"/>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9" y="6723771"/>
            <a:ext cx="1622409" cy="421567"/>
          </a:xfrm>
        </p:spPr>
        <p:txBody>
          <a:bodyPr/>
          <a:lstStyle>
            <a:lvl1pPr>
              <a:defRPr>
                <a:solidFill>
                  <a:schemeClr val="tx2"/>
                </a:solidFill>
              </a:defRPr>
            </a:lvl1pPr>
          </a:lstStyle>
          <a:p>
            <a:fld id="{87DE6118-2437-4B30-8E3C-4D2BE6020583}" type="datetimeFigureOut">
              <a:rPr lang="en-US" smtClean="0"/>
              <a:pPr/>
              <a:t>6/11/26</a:t>
            </a:fld>
            <a:endParaRPr lang="en-US" dirty="0"/>
          </a:p>
        </p:txBody>
      </p:sp>
      <p:sp>
        <p:nvSpPr>
          <p:cNvPr id="5" name="Footer Placeholder 4"/>
          <p:cNvSpPr>
            <a:spLocks noGrp="1"/>
          </p:cNvSpPr>
          <p:nvPr>
            <p:ph type="ftr" sz="quarter" idx="11"/>
          </p:nvPr>
        </p:nvSpPr>
        <p:spPr>
          <a:xfrm>
            <a:off x="2584312" y="6723771"/>
            <a:ext cx="7023377" cy="421567"/>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723771"/>
            <a:ext cx="1596292" cy="421567"/>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7" name="Freeform 6" title="Crop Mark"/>
          <p:cNvSpPr/>
          <p:nvPr/>
        </p:nvSpPr>
        <p:spPr bwMode="auto">
          <a:xfrm>
            <a:off x="8151963" y="1756278"/>
            <a:ext cx="3275013" cy="4593196"/>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56502920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381779"/>
            <a:ext cx="4447786" cy="373145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381779"/>
            <a:ext cx="4447786" cy="373145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865743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714534"/>
            <a:ext cx="9601200" cy="1548157"/>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438942"/>
            <a:ext cx="4443984" cy="85843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443690"/>
            <a:ext cx="4443984" cy="266954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438942"/>
            <a:ext cx="4443984" cy="85843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443690"/>
            <a:ext cx="4443984" cy="266954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22100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951091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782809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92"/>
            <a:ext cx="5303520" cy="71449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714534"/>
            <a:ext cx="3855720" cy="2248296"/>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714535"/>
            <a:ext cx="5212080" cy="5392084"/>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976020"/>
            <a:ext cx="3855720" cy="3137214"/>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723771"/>
            <a:ext cx="1204572" cy="421567"/>
          </a:xfrm>
        </p:spPr>
        <p:txBody>
          <a:bodyPr/>
          <a:lstStyle>
            <a:lvl1pPr>
              <a:defRPr>
                <a:solidFill>
                  <a:schemeClr val="tx2"/>
                </a:solidFill>
              </a:defRPr>
            </a:lvl1pPr>
          </a:lstStyle>
          <a:p>
            <a:fld id="{87DE6118-2437-4B30-8E3C-4D2BE6020583}" type="datetimeFigureOut">
              <a:rPr lang="en-US" smtClean="0"/>
              <a:pPr/>
              <a:t>6/11/26</a:t>
            </a:fld>
            <a:endParaRPr lang="en-US" dirty="0"/>
          </a:p>
        </p:txBody>
      </p:sp>
      <p:sp>
        <p:nvSpPr>
          <p:cNvPr id="6" name="Footer Placeholder 5"/>
          <p:cNvSpPr>
            <a:spLocks noGrp="1"/>
          </p:cNvSpPr>
          <p:nvPr>
            <p:ph type="ftr" sz="quarter" idx="11"/>
          </p:nvPr>
        </p:nvSpPr>
        <p:spPr>
          <a:xfrm>
            <a:off x="2205945" y="6723771"/>
            <a:ext cx="2373675" cy="421567"/>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723771"/>
            <a:ext cx="1596292" cy="421567"/>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a:off x="5303520" y="392"/>
            <a:ext cx="228600" cy="71453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0275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92"/>
            <a:ext cx="5303520" cy="71449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714534"/>
            <a:ext cx="3855720" cy="2248296"/>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1"/>
            <a:ext cx="6659880" cy="7145337"/>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975628"/>
            <a:ext cx="3855720" cy="313760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723771"/>
            <a:ext cx="1204572" cy="421567"/>
          </a:xfrm>
        </p:spPr>
        <p:txBody>
          <a:bodyPr/>
          <a:lstStyle>
            <a:lvl1pPr>
              <a:defRPr>
                <a:solidFill>
                  <a:schemeClr val="tx2"/>
                </a:solidFill>
              </a:defRPr>
            </a:lvl1pPr>
          </a:lstStyle>
          <a:p>
            <a:fld id="{87DE6118-2437-4B30-8E3C-4D2BE6020583}" type="datetimeFigureOut">
              <a:rPr lang="en-US" smtClean="0"/>
              <a:pPr/>
              <a:t>6/11/26</a:t>
            </a:fld>
            <a:endParaRPr lang="en-US" dirty="0"/>
          </a:p>
        </p:txBody>
      </p:sp>
      <p:sp>
        <p:nvSpPr>
          <p:cNvPr id="6" name="Footer Placeholder 5"/>
          <p:cNvSpPr>
            <a:spLocks noGrp="1"/>
          </p:cNvSpPr>
          <p:nvPr>
            <p:ph type="ftr" sz="quarter" idx="11"/>
          </p:nvPr>
        </p:nvSpPr>
        <p:spPr>
          <a:xfrm>
            <a:off x="2205945" y="6723771"/>
            <a:ext cx="2373675" cy="421567"/>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723771"/>
            <a:ext cx="1596292" cy="421567"/>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a:off x="5303520" y="392"/>
            <a:ext cx="228600" cy="71453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90491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391704"/>
            <a:ext cx="9601200" cy="372153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15799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50307"/>
            <a:ext cx="1565766" cy="546292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1" y="650307"/>
            <a:ext cx="8179641" cy="546292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414863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714534"/>
            <a:ext cx="9601200" cy="1548157"/>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381779"/>
            <a:ext cx="9601200" cy="373145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723771"/>
            <a:ext cx="1204572" cy="421567"/>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smtClean="0"/>
              <a:pPr/>
              <a:t>6/11/26</a:t>
            </a:fld>
            <a:endParaRPr lang="en-US" dirty="0"/>
          </a:p>
        </p:txBody>
      </p:sp>
      <p:sp>
        <p:nvSpPr>
          <p:cNvPr id="5" name="Footer Placeholder 4"/>
          <p:cNvSpPr>
            <a:spLocks noGrp="1"/>
          </p:cNvSpPr>
          <p:nvPr>
            <p:ph type="ftr" sz="quarter" idx="3"/>
          </p:nvPr>
        </p:nvSpPr>
        <p:spPr>
          <a:xfrm>
            <a:off x="2893564" y="6723771"/>
            <a:ext cx="6280830" cy="421567"/>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723771"/>
            <a:ext cx="1596292" cy="421567"/>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smtClean="0"/>
              <a:pPr/>
              <a:t>‹#›</a:t>
            </a:fld>
            <a:endParaRPr lang="en-US" dirty="0"/>
          </a:p>
        </p:txBody>
      </p:sp>
      <p:sp>
        <p:nvSpPr>
          <p:cNvPr id="9" name="Rectangle 8" title="Side bar"/>
          <p:cNvSpPr/>
          <p:nvPr/>
        </p:nvSpPr>
        <p:spPr>
          <a:xfrm>
            <a:off x="478095" y="392"/>
            <a:ext cx="228600" cy="71453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011263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12" orient="horz" pos="1425" userDrawn="1">
          <p15:clr>
            <a:srgbClr val="F26B43"/>
          </p15:clr>
        </p15:guide>
        <p15:guide id="13" orient="horz" pos="1500" userDrawn="1">
          <p15:clr>
            <a:srgbClr val="F26B43"/>
          </p15:clr>
        </p15:guide>
        <p15:guide id="14" orient="horz" pos="3851" userDrawn="1">
          <p15:clr>
            <a:srgbClr val="F26B43"/>
          </p15:clr>
        </p15:guide>
        <p15:guide id="15" orient="horz" pos="450" userDrawn="1">
          <p15:clr>
            <a:srgbClr val="F26B43"/>
          </p15:clr>
        </p15:guide>
        <p15:guide id="16" orient="horz" pos="1575" userDrawn="1">
          <p15:clr>
            <a:srgbClr val="F26B43"/>
          </p15:clr>
        </p15:guide>
        <p15:guide id="17" pos="6912" userDrawn="1">
          <p15:clr>
            <a:srgbClr val="F26B43"/>
          </p15:clr>
        </p15:guide>
        <p15:guide id="18" pos="936" userDrawn="1">
          <p15:clr>
            <a:srgbClr val="F26B43"/>
          </p15:clr>
        </p15:guide>
        <p15:guide id="19" pos="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02DD1E-2170-3F6D-1A07-750FA3906DB8}"/>
              </a:ext>
            </a:extLst>
          </p:cNvPr>
          <p:cNvSpPr txBox="1"/>
          <p:nvPr/>
        </p:nvSpPr>
        <p:spPr>
          <a:xfrm>
            <a:off x="1358906" y="1839966"/>
            <a:ext cx="9712366" cy="3490956"/>
          </a:xfrm>
          <a:prstGeom prst="rect">
            <a:avLst/>
          </a:prstGeom>
          <a:noFill/>
        </p:spPr>
        <p:txBody>
          <a:bodyPr wrap="square">
            <a:spAutoFit/>
          </a:bodyPr>
          <a:lstStyle/>
          <a:p>
            <a:pPr algn="ctr">
              <a:buNone/>
            </a:pPr>
            <a:r>
              <a:rPr lang="en-IN" sz="3751" b="1" dirty="0" err="1">
                <a:latin typeface="Times New Roman" panose="02020603050405020304" pitchFamily="18" charset="0"/>
                <a:cs typeface="Times New Roman" panose="02020603050405020304" pitchFamily="18" charset="0"/>
              </a:rPr>
              <a:t>Bluestock</a:t>
            </a:r>
            <a:r>
              <a:rPr lang="en-IN" sz="3751" b="1" dirty="0">
                <a:latin typeface="Times New Roman" panose="02020603050405020304" pitchFamily="18" charset="0"/>
                <a:cs typeface="Times New Roman" panose="02020603050405020304" pitchFamily="18" charset="0"/>
              </a:rPr>
              <a:t> Mutual Fund Analytics Platform</a:t>
            </a:r>
          </a:p>
          <a:p>
            <a:pPr algn="ctr">
              <a:buNone/>
            </a:pPr>
            <a:r>
              <a:rPr lang="en-IN" sz="3334" b="1" dirty="0">
                <a:latin typeface="Times New Roman" panose="02020603050405020304" pitchFamily="18" charset="0"/>
                <a:cs typeface="Times New Roman" panose="02020603050405020304" pitchFamily="18" charset="0"/>
              </a:rPr>
              <a:t>Data Analyst Internship Capstone Project</a:t>
            </a:r>
          </a:p>
          <a:p>
            <a:pPr>
              <a:buNone/>
            </a:pPr>
            <a:endParaRPr lang="en-IN" sz="1875" dirty="0">
              <a:latin typeface="Times New Roman" panose="02020603050405020304" pitchFamily="18" charset="0"/>
              <a:cs typeface="Times New Roman" panose="02020603050405020304" pitchFamily="18" charset="0"/>
            </a:endParaRPr>
          </a:p>
          <a:p>
            <a:pPr>
              <a:buNone/>
            </a:pPr>
            <a:endParaRPr lang="en-IN" sz="1875" dirty="0">
              <a:latin typeface="Times New Roman" panose="02020603050405020304" pitchFamily="18" charset="0"/>
              <a:cs typeface="Times New Roman" panose="02020603050405020304" pitchFamily="18" charset="0"/>
            </a:endParaRPr>
          </a:p>
          <a:p>
            <a:pPr>
              <a:buNone/>
            </a:pPr>
            <a:endParaRPr lang="en-IN" sz="1875" dirty="0">
              <a:latin typeface="Times New Roman" panose="02020603050405020304" pitchFamily="18" charset="0"/>
              <a:cs typeface="Times New Roman" panose="02020603050405020304" pitchFamily="18" charset="0"/>
            </a:endParaRPr>
          </a:p>
          <a:p>
            <a:pPr>
              <a:buNone/>
            </a:pPr>
            <a:r>
              <a:rPr lang="en-IN" sz="1875" dirty="0">
                <a:latin typeface="Times New Roman" panose="02020603050405020304" pitchFamily="18" charset="0"/>
                <a:cs typeface="Times New Roman" panose="02020603050405020304" pitchFamily="18" charset="0"/>
              </a:rPr>
              <a:t>Prepared By:</a:t>
            </a:r>
            <a:br>
              <a:rPr lang="en-IN" sz="1875" dirty="0">
                <a:latin typeface="Times New Roman" panose="02020603050405020304" pitchFamily="18" charset="0"/>
                <a:cs typeface="Times New Roman" panose="02020603050405020304" pitchFamily="18" charset="0"/>
              </a:rPr>
            </a:br>
            <a:r>
              <a:rPr lang="en-IN" sz="1875" b="1" dirty="0">
                <a:latin typeface="Times New Roman" panose="02020603050405020304" pitchFamily="18" charset="0"/>
                <a:cs typeface="Times New Roman" panose="02020603050405020304" pitchFamily="18" charset="0"/>
              </a:rPr>
              <a:t>Anushika Kapoor</a:t>
            </a:r>
            <a:r>
              <a:rPr lang="en-IN" sz="1875" dirty="0">
                <a:latin typeface="Times New Roman" panose="02020603050405020304" pitchFamily="18" charset="0"/>
                <a:cs typeface="Times New Roman" panose="02020603050405020304" pitchFamily="18" charset="0"/>
              </a:rPr>
              <a:t> </a:t>
            </a:r>
          </a:p>
          <a:p>
            <a:pPr>
              <a:buNone/>
            </a:pPr>
            <a:r>
              <a:rPr lang="en-IN" sz="1875" dirty="0">
                <a:latin typeface="Times New Roman" panose="02020603050405020304" pitchFamily="18" charset="0"/>
                <a:cs typeface="Times New Roman" panose="02020603050405020304" pitchFamily="18" charset="0"/>
              </a:rPr>
              <a:t>Technologies:</a:t>
            </a:r>
            <a:br>
              <a:rPr lang="en-IN" sz="1875" dirty="0">
                <a:latin typeface="Times New Roman" panose="02020603050405020304" pitchFamily="18" charset="0"/>
                <a:cs typeface="Times New Roman" panose="02020603050405020304" pitchFamily="18" charset="0"/>
              </a:rPr>
            </a:br>
            <a:r>
              <a:rPr lang="en-IN" sz="1875" dirty="0">
                <a:latin typeface="Times New Roman" panose="02020603050405020304" pitchFamily="18" charset="0"/>
                <a:cs typeface="Times New Roman" panose="02020603050405020304" pitchFamily="18" charset="0"/>
              </a:rPr>
              <a:t>Python | SQL | SQLite | Tableau | Git</a:t>
            </a:r>
          </a:p>
          <a:p>
            <a:pPr>
              <a:buNone/>
            </a:pPr>
            <a:r>
              <a:rPr lang="en-IN" sz="1875" dirty="0">
                <a:latin typeface="Times New Roman" panose="02020603050405020304" pitchFamily="18" charset="0"/>
                <a:cs typeface="Times New Roman" panose="02020603050405020304" pitchFamily="18" charset="0"/>
              </a:rPr>
              <a:t>June 2026</a:t>
            </a:r>
          </a:p>
        </p:txBody>
      </p:sp>
    </p:spTree>
    <p:extLst>
      <p:ext uri="{BB962C8B-B14F-4D97-AF65-F5344CB8AC3E}">
        <p14:creationId xmlns:p14="http://schemas.microsoft.com/office/powerpoint/2010/main" val="723935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F11D-0262-CECE-B33F-BD4B026D73F5}"/>
              </a:ext>
            </a:extLst>
          </p:cNvPr>
          <p:cNvSpPr>
            <a:spLocks noGrp="1"/>
          </p:cNvSpPr>
          <p:nvPr>
            <p:ph type="title"/>
          </p:nvPr>
        </p:nvSpPr>
        <p:spPr>
          <a:xfrm>
            <a:off x="1001639" y="740998"/>
            <a:ext cx="10003473" cy="873319"/>
          </a:xfrm>
        </p:spPr>
        <p:txBody>
          <a:bodyPr/>
          <a:lstStyle/>
          <a:p>
            <a:r>
              <a:rPr lang="en-IN" b="1" dirty="0"/>
              <a:t>Problem Statement &amp; Objectives</a:t>
            </a:r>
            <a:endParaRPr lang="en-US" dirty="0"/>
          </a:p>
        </p:txBody>
      </p:sp>
      <p:sp>
        <p:nvSpPr>
          <p:cNvPr id="3" name="Content Placeholder 2">
            <a:extLst>
              <a:ext uri="{FF2B5EF4-FFF2-40B4-BE49-F238E27FC236}">
                <a16:creationId xmlns:a16="http://schemas.microsoft.com/office/drawing/2014/main" id="{0845E0B9-6829-6EEE-4412-E281DFE1CB3F}"/>
              </a:ext>
            </a:extLst>
          </p:cNvPr>
          <p:cNvSpPr>
            <a:spLocks noGrp="1"/>
          </p:cNvSpPr>
          <p:nvPr>
            <p:ph idx="1"/>
          </p:nvPr>
        </p:nvSpPr>
        <p:spPr>
          <a:xfrm>
            <a:off x="1001639" y="1878959"/>
            <a:ext cx="11009113" cy="5001736"/>
          </a:xfrm>
        </p:spPr>
        <p:txBody>
          <a:bodyPr>
            <a:normAutofit fontScale="77500" lnSpcReduction="20000"/>
          </a:bodyPr>
          <a:lstStyle/>
          <a:p>
            <a:pPr marL="0" indent="0">
              <a:buNone/>
            </a:pPr>
            <a:r>
              <a:rPr lang="en-IN" sz="3022" b="1" dirty="0">
                <a:latin typeface="Times New Roman" panose="02020603050405020304" pitchFamily="18" charset="0"/>
                <a:cs typeface="Times New Roman" panose="02020603050405020304" pitchFamily="18" charset="0"/>
              </a:rPr>
              <a:t>Problem Statement</a:t>
            </a:r>
          </a:p>
          <a:p>
            <a:r>
              <a:rPr lang="en-IN" sz="3022" dirty="0">
                <a:latin typeface="Times New Roman" panose="02020603050405020304" pitchFamily="18" charset="0"/>
                <a:cs typeface="Times New Roman" panose="02020603050405020304" pitchFamily="18" charset="0"/>
              </a:rPr>
              <a:t>The mutual fund industry generates large volumes of data related to NAVs, investor transactions, fund performance, and SIP investments. Extracting actionable insights from this data requires a structured analytics platform.</a:t>
            </a:r>
          </a:p>
          <a:p>
            <a:pPr marL="0" indent="0">
              <a:buNone/>
            </a:pPr>
            <a:endParaRPr lang="en-IN" sz="3022" b="1" dirty="0">
              <a:latin typeface="Times New Roman" panose="02020603050405020304" pitchFamily="18" charset="0"/>
              <a:cs typeface="Times New Roman" panose="02020603050405020304" pitchFamily="18" charset="0"/>
            </a:endParaRPr>
          </a:p>
          <a:p>
            <a:pPr marL="0" indent="0">
              <a:buNone/>
            </a:pPr>
            <a:r>
              <a:rPr lang="en-IN" sz="3022" b="1" dirty="0">
                <a:latin typeface="Times New Roman" panose="02020603050405020304" pitchFamily="18" charset="0"/>
                <a:cs typeface="Times New Roman" panose="02020603050405020304" pitchFamily="18" charset="0"/>
              </a:rPr>
              <a:t>Objectives</a:t>
            </a:r>
          </a:p>
          <a:p>
            <a:r>
              <a:rPr lang="en-IN" sz="3022" dirty="0" err="1">
                <a:latin typeface="Times New Roman" panose="02020603050405020304" pitchFamily="18" charset="0"/>
                <a:cs typeface="Times New Roman" panose="02020603050405020304" pitchFamily="18" charset="0"/>
              </a:rPr>
              <a:t>Analyze</a:t>
            </a:r>
            <a:r>
              <a:rPr lang="en-IN" sz="3022" dirty="0">
                <a:latin typeface="Times New Roman" panose="02020603050405020304" pitchFamily="18" charset="0"/>
                <a:cs typeface="Times New Roman" panose="02020603050405020304" pitchFamily="18" charset="0"/>
              </a:rPr>
              <a:t> industry growth trends</a:t>
            </a:r>
          </a:p>
          <a:p>
            <a:r>
              <a:rPr lang="en-IN" sz="3022" dirty="0">
                <a:latin typeface="Times New Roman" panose="02020603050405020304" pitchFamily="18" charset="0"/>
                <a:cs typeface="Times New Roman" panose="02020603050405020304" pitchFamily="18" charset="0"/>
              </a:rPr>
              <a:t>Evaluate fund performance</a:t>
            </a:r>
          </a:p>
          <a:p>
            <a:r>
              <a:rPr lang="en-IN" sz="3022" dirty="0">
                <a:latin typeface="Times New Roman" panose="02020603050405020304" pitchFamily="18" charset="0"/>
                <a:cs typeface="Times New Roman" panose="02020603050405020304" pitchFamily="18" charset="0"/>
              </a:rPr>
              <a:t>Study investor </a:t>
            </a:r>
            <a:r>
              <a:rPr lang="en-IN" sz="3022" dirty="0" err="1">
                <a:latin typeface="Times New Roman" panose="02020603050405020304" pitchFamily="18" charset="0"/>
                <a:cs typeface="Times New Roman" panose="02020603050405020304" pitchFamily="18" charset="0"/>
              </a:rPr>
              <a:t>behavior</a:t>
            </a:r>
            <a:endParaRPr lang="en-IN" sz="3022" dirty="0">
              <a:latin typeface="Times New Roman" panose="02020603050405020304" pitchFamily="18" charset="0"/>
              <a:cs typeface="Times New Roman" panose="02020603050405020304" pitchFamily="18" charset="0"/>
            </a:endParaRPr>
          </a:p>
          <a:p>
            <a:r>
              <a:rPr lang="en-IN" sz="3022" dirty="0">
                <a:latin typeface="Times New Roman" panose="02020603050405020304" pitchFamily="18" charset="0"/>
                <a:cs typeface="Times New Roman" panose="02020603050405020304" pitchFamily="18" charset="0"/>
              </a:rPr>
              <a:t>Monitor SIP trends</a:t>
            </a:r>
          </a:p>
          <a:p>
            <a:r>
              <a:rPr lang="en-IN" sz="3022" dirty="0">
                <a:latin typeface="Times New Roman" panose="02020603050405020304" pitchFamily="18" charset="0"/>
                <a:cs typeface="Times New Roman" panose="02020603050405020304" pitchFamily="18" charset="0"/>
              </a:rPr>
              <a:t>Build interactive dashboards</a:t>
            </a:r>
          </a:p>
          <a:p>
            <a:r>
              <a:rPr lang="en-IN" sz="3022" dirty="0">
                <a:latin typeface="Times New Roman" panose="02020603050405020304" pitchFamily="18" charset="0"/>
                <a:cs typeface="Times New Roman" panose="02020603050405020304" pitchFamily="18" charset="0"/>
              </a:rPr>
              <a:t>Develop recommendation systems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83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91B6-6FCC-C444-2B16-A17006B20478}"/>
              </a:ext>
            </a:extLst>
          </p:cNvPr>
          <p:cNvSpPr>
            <a:spLocks noGrp="1"/>
          </p:cNvSpPr>
          <p:nvPr>
            <p:ph type="title"/>
          </p:nvPr>
        </p:nvSpPr>
        <p:spPr>
          <a:xfrm>
            <a:off x="1094263" y="449491"/>
            <a:ext cx="10003473" cy="727766"/>
          </a:xfrm>
        </p:spPr>
        <p:txBody>
          <a:bodyPr>
            <a:normAutofit fontScale="90000"/>
          </a:bodyPr>
          <a:lstStyle/>
          <a:p>
            <a:r>
              <a:rPr lang="en-IN" b="1" dirty="0"/>
              <a:t>Data Sources</a:t>
            </a:r>
            <a:br>
              <a:rPr lang="en-IN" b="1" dirty="0"/>
            </a:br>
            <a:endParaRPr lang="en-US" dirty="0"/>
          </a:p>
        </p:txBody>
      </p:sp>
      <p:sp>
        <p:nvSpPr>
          <p:cNvPr id="3" name="Content Placeholder 2">
            <a:extLst>
              <a:ext uri="{FF2B5EF4-FFF2-40B4-BE49-F238E27FC236}">
                <a16:creationId xmlns:a16="http://schemas.microsoft.com/office/drawing/2014/main" id="{9BD4DC10-5ACC-7271-4E27-6652CE5AA265}"/>
              </a:ext>
            </a:extLst>
          </p:cNvPr>
          <p:cNvSpPr>
            <a:spLocks noGrp="1"/>
          </p:cNvSpPr>
          <p:nvPr>
            <p:ph idx="1"/>
          </p:nvPr>
        </p:nvSpPr>
        <p:spPr>
          <a:xfrm>
            <a:off x="1173656" y="1442300"/>
            <a:ext cx="10003473" cy="5411932"/>
          </a:xfrm>
        </p:spPr>
        <p:txBody>
          <a:bodyPr>
            <a:normAutofit fontScale="92500" lnSpcReduction="20000"/>
          </a:bodyPr>
          <a:lstStyle/>
          <a:p>
            <a:pPr marL="0" indent="0">
              <a:buNone/>
            </a:pPr>
            <a:r>
              <a:rPr lang="en-IN" sz="2292" b="1" dirty="0">
                <a:latin typeface="Times New Roman" panose="02020603050405020304" pitchFamily="18" charset="0"/>
                <a:cs typeface="Times New Roman" panose="02020603050405020304" pitchFamily="18" charset="0"/>
              </a:rPr>
              <a:t>Datasets Used</a:t>
            </a:r>
          </a:p>
          <a:p>
            <a:r>
              <a:rPr lang="en-IN" dirty="0">
                <a:latin typeface="Times New Roman" panose="02020603050405020304" pitchFamily="18" charset="0"/>
                <a:cs typeface="Times New Roman" panose="02020603050405020304" pitchFamily="18" charset="0"/>
              </a:rPr>
              <a:t>Fund Master Data</a:t>
            </a:r>
          </a:p>
          <a:p>
            <a:r>
              <a:rPr lang="en-IN" dirty="0">
                <a:latin typeface="Times New Roman" panose="02020603050405020304" pitchFamily="18" charset="0"/>
                <a:cs typeface="Times New Roman" panose="02020603050405020304" pitchFamily="18" charset="0"/>
              </a:rPr>
              <a:t>NAV History</a:t>
            </a:r>
          </a:p>
          <a:p>
            <a:r>
              <a:rPr lang="en-IN" dirty="0">
                <a:latin typeface="Times New Roman" panose="02020603050405020304" pitchFamily="18" charset="0"/>
                <a:cs typeface="Times New Roman" panose="02020603050405020304" pitchFamily="18" charset="0"/>
              </a:rPr>
              <a:t>AUM by Fund House</a:t>
            </a:r>
          </a:p>
          <a:p>
            <a:r>
              <a:rPr lang="en-IN" dirty="0">
                <a:latin typeface="Times New Roman" panose="02020603050405020304" pitchFamily="18" charset="0"/>
                <a:cs typeface="Times New Roman" panose="02020603050405020304" pitchFamily="18" charset="0"/>
              </a:rPr>
              <a:t>Monthly SIP Inflows</a:t>
            </a:r>
          </a:p>
          <a:p>
            <a:r>
              <a:rPr lang="en-IN" dirty="0">
                <a:latin typeface="Times New Roman" panose="02020603050405020304" pitchFamily="18" charset="0"/>
                <a:cs typeface="Times New Roman" panose="02020603050405020304" pitchFamily="18" charset="0"/>
              </a:rPr>
              <a:t>Category Inflows</a:t>
            </a:r>
          </a:p>
          <a:p>
            <a:r>
              <a:rPr lang="en-IN" dirty="0">
                <a:latin typeface="Times New Roman" panose="02020603050405020304" pitchFamily="18" charset="0"/>
                <a:cs typeface="Times New Roman" panose="02020603050405020304" pitchFamily="18" charset="0"/>
              </a:rPr>
              <a:t>Industry Folio Count</a:t>
            </a:r>
          </a:p>
          <a:p>
            <a:r>
              <a:rPr lang="en-IN" dirty="0">
                <a:latin typeface="Times New Roman" panose="02020603050405020304" pitchFamily="18" charset="0"/>
                <a:cs typeface="Times New Roman" panose="02020603050405020304" pitchFamily="18" charset="0"/>
              </a:rPr>
              <a:t>Scheme Performance</a:t>
            </a:r>
          </a:p>
          <a:p>
            <a:r>
              <a:rPr lang="en-IN" dirty="0">
                <a:latin typeface="Times New Roman" panose="02020603050405020304" pitchFamily="18" charset="0"/>
                <a:cs typeface="Times New Roman" panose="02020603050405020304" pitchFamily="18" charset="0"/>
              </a:rPr>
              <a:t>Investor Transactions</a:t>
            </a:r>
          </a:p>
          <a:p>
            <a:r>
              <a:rPr lang="en-IN" dirty="0">
                <a:latin typeface="Times New Roman" panose="02020603050405020304" pitchFamily="18" charset="0"/>
                <a:cs typeface="Times New Roman" panose="02020603050405020304" pitchFamily="18" charset="0"/>
              </a:rPr>
              <a:t>Portfolio Holdings</a:t>
            </a:r>
          </a:p>
          <a:p>
            <a:r>
              <a:rPr lang="en-IN" dirty="0">
                <a:latin typeface="Times New Roman" panose="02020603050405020304" pitchFamily="18" charset="0"/>
                <a:cs typeface="Times New Roman" panose="02020603050405020304" pitchFamily="18" charset="0"/>
              </a:rPr>
              <a:t>Benchmark Indices</a:t>
            </a:r>
          </a:p>
          <a:p>
            <a:pPr marL="0" indent="0">
              <a:buNone/>
            </a:pPr>
            <a:r>
              <a:rPr lang="en-IN" sz="2292" b="1" dirty="0">
                <a:latin typeface="Times New Roman" panose="02020603050405020304" pitchFamily="18" charset="0"/>
                <a:cs typeface="Times New Roman" panose="02020603050405020304" pitchFamily="18" charset="0"/>
              </a:rPr>
              <a:t>Total Records</a:t>
            </a:r>
          </a:p>
          <a:p>
            <a:r>
              <a:rPr lang="en-IN" dirty="0">
                <a:latin typeface="Times New Roman" panose="02020603050405020304" pitchFamily="18" charset="0"/>
                <a:cs typeface="Times New Roman" panose="02020603050405020304" pitchFamily="18" charset="0"/>
              </a:rPr>
              <a:t>80,000+ records </a:t>
            </a:r>
            <a:r>
              <a:rPr lang="en-IN" dirty="0" err="1">
                <a:latin typeface="Times New Roman" panose="02020603050405020304" pitchFamily="18" charset="0"/>
                <a:cs typeface="Times New Roman" panose="02020603050405020304" pitchFamily="18" charset="0"/>
              </a:rPr>
              <a:t>analyzed</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10 integrated datasets</a:t>
            </a:r>
          </a:p>
          <a:p>
            <a:pPr marL="0" indent="0">
              <a:buNone/>
            </a:pPr>
            <a:endParaRPr lang="en-US" dirty="0"/>
          </a:p>
        </p:txBody>
      </p:sp>
    </p:spTree>
    <p:extLst>
      <p:ext uri="{BB962C8B-B14F-4D97-AF65-F5344CB8AC3E}">
        <p14:creationId xmlns:p14="http://schemas.microsoft.com/office/powerpoint/2010/main" val="2843231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F869-ABB3-BE99-6779-2DA7D0177D97}"/>
              </a:ext>
            </a:extLst>
          </p:cNvPr>
          <p:cNvSpPr>
            <a:spLocks noGrp="1"/>
          </p:cNvSpPr>
          <p:nvPr>
            <p:ph type="title"/>
          </p:nvPr>
        </p:nvSpPr>
        <p:spPr>
          <a:xfrm>
            <a:off x="1173656" y="422986"/>
            <a:ext cx="10003473" cy="833623"/>
          </a:xfrm>
        </p:spPr>
        <p:txBody>
          <a:bodyPr/>
          <a:lstStyle/>
          <a:p>
            <a:r>
              <a:rPr lang="en-US" b="1" dirty="0"/>
              <a:t>System Architecture </a:t>
            </a:r>
          </a:p>
        </p:txBody>
      </p:sp>
      <p:pic>
        <p:nvPicPr>
          <p:cNvPr id="5" name="Picture 4">
            <a:extLst>
              <a:ext uri="{FF2B5EF4-FFF2-40B4-BE49-F238E27FC236}">
                <a16:creationId xmlns:a16="http://schemas.microsoft.com/office/drawing/2014/main" id="{C646EBA2-1A22-DBA4-32FB-E539CDB13FDA}"/>
              </a:ext>
            </a:extLst>
          </p:cNvPr>
          <p:cNvPicPr>
            <a:picLocks noChangeAspect="1"/>
          </p:cNvPicPr>
          <p:nvPr/>
        </p:nvPicPr>
        <p:blipFill>
          <a:blip r:embed="rId2"/>
          <a:srcRect t="18040" b="23550"/>
          <a:stretch>
            <a:fillRect/>
          </a:stretch>
        </p:blipFill>
        <p:spPr>
          <a:xfrm>
            <a:off x="1199291" y="1548157"/>
            <a:ext cx="9819053" cy="3224351"/>
          </a:xfrm>
          <a:prstGeom prst="rect">
            <a:avLst/>
          </a:prstGeom>
        </p:spPr>
      </p:pic>
      <p:sp>
        <p:nvSpPr>
          <p:cNvPr id="7" name="TextBox 6">
            <a:extLst>
              <a:ext uri="{FF2B5EF4-FFF2-40B4-BE49-F238E27FC236}">
                <a16:creationId xmlns:a16="http://schemas.microsoft.com/office/drawing/2014/main" id="{2BE63A0B-644B-1DE1-83A2-9E920AFCB3F9}"/>
              </a:ext>
            </a:extLst>
          </p:cNvPr>
          <p:cNvSpPr txBox="1"/>
          <p:nvPr/>
        </p:nvSpPr>
        <p:spPr>
          <a:xfrm>
            <a:off x="1173656" y="4931734"/>
            <a:ext cx="10307811" cy="1246495"/>
          </a:xfrm>
          <a:prstGeom prst="rect">
            <a:avLst/>
          </a:prstGeom>
          <a:noFill/>
        </p:spPr>
        <p:txBody>
          <a:bodyPr wrap="square">
            <a:spAutoFit/>
          </a:bodyPr>
          <a:lstStyle/>
          <a:p>
            <a:pPr>
              <a:buNone/>
            </a:pPr>
            <a:r>
              <a:rPr lang="en-IN" sz="1875" dirty="0">
                <a:latin typeface="Times New Roman" panose="02020603050405020304" pitchFamily="18" charset="0"/>
                <a:cs typeface="Times New Roman" panose="02020603050405020304" pitchFamily="18" charset="0"/>
              </a:rPr>
              <a:t>The platform integrates multiple mutual fund datasets through an ETL pipeline for data cleaning, transformation, and validation. The processed data is stored in a centralized SQLite database, </a:t>
            </a:r>
            <a:r>
              <a:rPr lang="en-IN" sz="1875" dirty="0" err="1">
                <a:latin typeface="Times New Roman" panose="02020603050405020304" pitchFamily="18" charset="0"/>
                <a:cs typeface="Times New Roman" panose="02020603050405020304" pitchFamily="18" charset="0"/>
              </a:rPr>
              <a:t>analyzed</a:t>
            </a:r>
            <a:r>
              <a:rPr lang="en-IN" sz="1875" dirty="0">
                <a:latin typeface="Times New Roman" panose="02020603050405020304" pitchFamily="18" charset="0"/>
                <a:cs typeface="Times New Roman" panose="02020603050405020304" pitchFamily="18" charset="0"/>
              </a:rPr>
              <a:t> using Python, and visualized through Tableau dashboards to generate actionable business insights and investment recommendations.</a:t>
            </a:r>
          </a:p>
        </p:txBody>
      </p:sp>
    </p:spTree>
    <p:extLst>
      <p:ext uri="{BB962C8B-B14F-4D97-AF65-F5344CB8AC3E}">
        <p14:creationId xmlns:p14="http://schemas.microsoft.com/office/powerpoint/2010/main" val="487919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23FF-55FB-5F91-C060-EFAAD55DCA76}"/>
              </a:ext>
            </a:extLst>
          </p:cNvPr>
          <p:cNvSpPr>
            <a:spLocks noGrp="1"/>
          </p:cNvSpPr>
          <p:nvPr>
            <p:ph type="title"/>
          </p:nvPr>
        </p:nvSpPr>
        <p:spPr>
          <a:xfrm>
            <a:off x="1094264" y="383732"/>
            <a:ext cx="10003473" cy="807158"/>
          </a:xfrm>
        </p:spPr>
        <p:txBody>
          <a:bodyPr>
            <a:normAutofit fontScale="90000"/>
          </a:bodyPr>
          <a:lstStyle/>
          <a:p>
            <a:r>
              <a:rPr lang="en-US" dirty="0"/>
              <a:t>Exploratory Data Analysis – Industry Trends</a:t>
            </a:r>
          </a:p>
        </p:txBody>
      </p:sp>
      <p:pic>
        <p:nvPicPr>
          <p:cNvPr id="5" name="Content Placeholder 4">
            <a:extLst>
              <a:ext uri="{FF2B5EF4-FFF2-40B4-BE49-F238E27FC236}">
                <a16:creationId xmlns:a16="http://schemas.microsoft.com/office/drawing/2014/main" id="{113E2B74-FDA4-85CC-77DC-3DCD56113A9D}"/>
              </a:ext>
            </a:extLst>
          </p:cNvPr>
          <p:cNvPicPr>
            <a:picLocks noGrp="1" noChangeAspect="1"/>
          </p:cNvPicPr>
          <p:nvPr>
            <p:ph idx="1"/>
          </p:nvPr>
        </p:nvPicPr>
        <p:blipFill>
          <a:blip r:embed="rId2"/>
          <a:srcRect t="65603" r="21467"/>
          <a:stretch>
            <a:fillRect/>
          </a:stretch>
        </p:blipFill>
        <p:spPr>
          <a:xfrm>
            <a:off x="842854" y="1190890"/>
            <a:ext cx="5663964" cy="2188414"/>
          </a:xfrm>
          <a:prstGeom prst="rect">
            <a:avLst/>
          </a:prstGeom>
        </p:spPr>
      </p:pic>
      <p:pic>
        <p:nvPicPr>
          <p:cNvPr id="6" name="Picture 5">
            <a:extLst>
              <a:ext uri="{FF2B5EF4-FFF2-40B4-BE49-F238E27FC236}">
                <a16:creationId xmlns:a16="http://schemas.microsoft.com/office/drawing/2014/main" id="{445462C3-7A42-A4CA-F55B-734AC53D838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307" r="11904" b="52308"/>
          <a:stretch>
            <a:fillRect/>
          </a:stretch>
        </p:blipFill>
        <p:spPr bwMode="auto">
          <a:xfrm>
            <a:off x="842854" y="3902178"/>
            <a:ext cx="5796485" cy="2600109"/>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E966D99F-20F6-BDAC-687C-58DAE01A7B19}"/>
              </a:ext>
            </a:extLst>
          </p:cNvPr>
          <p:cNvSpPr txBox="1"/>
          <p:nvPr/>
        </p:nvSpPr>
        <p:spPr>
          <a:xfrm>
            <a:off x="6758228" y="1073908"/>
            <a:ext cx="5208485" cy="5574603"/>
          </a:xfrm>
          <a:prstGeom prst="rect">
            <a:avLst/>
          </a:prstGeom>
          <a:noFill/>
        </p:spPr>
        <p:txBody>
          <a:bodyPr wrap="square">
            <a:spAutoFit/>
          </a:bodyPr>
          <a:lstStyle/>
          <a:p>
            <a:pPr>
              <a:buNone/>
            </a:pPr>
            <a:r>
              <a:rPr lang="en-IN" sz="1875" b="1" dirty="0">
                <a:latin typeface="Times New Roman" panose="02020603050405020304" pitchFamily="18" charset="0"/>
                <a:cs typeface="Times New Roman" panose="02020603050405020304" pitchFamily="18" charset="0"/>
              </a:rPr>
              <a:t>Industry Trend Analysis</a:t>
            </a:r>
            <a:endParaRPr lang="en-IN" sz="1875"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 Industry AUM Trend indicates steady growth in the mutual fund industry, reaching its highest level in 2024 before experiencing a slight correction.</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 SIP vs NIFTY Trend shows a continuous increase in SIP inflows despite market fluctuations, highlighting growing investor confidence and long-term investment </a:t>
            </a:r>
            <a:r>
              <a:rPr lang="en-IN" sz="1875" dirty="0" err="1">
                <a:latin typeface="Times New Roman" panose="02020603050405020304" pitchFamily="18" charset="0"/>
                <a:cs typeface="Times New Roman" panose="02020603050405020304" pitchFamily="18" charset="0"/>
              </a:rPr>
              <a:t>behavior</a:t>
            </a:r>
            <a:r>
              <a:rPr lang="en-IN" sz="1875"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Rising SIP participation reflects increased awareness of systematic investing and the expansion of retail investors in the mutual fund industry.</a:t>
            </a:r>
          </a:p>
          <a:p>
            <a:pPr>
              <a:buNone/>
            </a:pPr>
            <a:endParaRPr lang="en-IN" sz="1875" b="1" dirty="0">
              <a:latin typeface="Times New Roman" panose="02020603050405020304" pitchFamily="18" charset="0"/>
              <a:cs typeface="Times New Roman" panose="02020603050405020304" pitchFamily="18" charset="0"/>
            </a:endParaRPr>
          </a:p>
          <a:p>
            <a:pPr>
              <a:buNone/>
            </a:pPr>
            <a:r>
              <a:rPr lang="en-IN" sz="1875" b="1" dirty="0">
                <a:latin typeface="Times New Roman" panose="02020603050405020304" pitchFamily="18" charset="0"/>
                <a:cs typeface="Times New Roman" panose="02020603050405020304" pitchFamily="18" charset="0"/>
              </a:rPr>
              <a:t>Key Finding-</a:t>
            </a:r>
          </a:p>
          <a:p>
            <a:pPr>
              <a:buNone/>
            </a:pPr>
            <a:r>
              <a:rPr lang="en-IN" sz="1875" b="1" dirty="0">
                <a:latin typeface="Times New Roman" panose="02020603050405020304" pitchFamily="18" charset="0"/>
                <a:cs typeface="Times New Roman" panose="02020603050405020304" pitchFamily="18" charset="0"/>
              </a:rPr>
              <a:t>Mutual fund investments continued to grow consistently, driven by increasing SIP adoption and sustained investor participation even during market volatility.</a:t>
            </a:r>
            <a:endParaRPr lang="en-IN" sz="187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53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89CB-0806-22D5-7567-C3DDEA32956B}"/>
              </a:ext>
            </a:extLst>
          </p:cNvPr>
          <p:cNvSpPr>
            <a:spLocks noGrp="1"/>
          </p:cNvSpPr>
          <p:nvPr>
            <p:ph type="title"/>
          </p:nvPr>
        </p:nvSpPr>
        <p:spPr>
          <a:xfrm>
            <a:off x="763461" y="463124"/>
            <a:ext cx="10665078" cy="740998"/>
          </a:xfrm>
        </p:spPr>
        <p:txBody>
          <a:bodyPr>
            <a:normAutofit fontScale="90000"/>
          </a:bodyPr>
          <a:lstStyle/>
          <a:p>
            <a:r>
              <a:rPr lang="en-IN" dirty="0"/>
              <a:t>Exploratory Data Analysis – Investor Insights</a:t>
            </a:r>
            <a:br>
              <a:rPr lang="en-IN" dirty="0"/>
            </a:br>
            <a:endParaRPr lang="en-US" dirty="0"/>
          </a:p>
        </p:txBody>
      </p:sp>
      <p:pic>
        <p:nvPicPr>
          <p:cNvPr id="5" name="Picture 4">
            <a:extLst>
              <a:ext uri="{FF2B5EF4-FFF2-40B4-BE49-F238E27FC236}">
                <a16:creationId xmlns:a16="http://schemas.microsoft.com/office/drawing/2014/main" id="{1E7DE4A9-B9C9-486F-C65D-A9592A28CA66}"/>
              </a:ext>
            </a:extLst>
          </p:cNvPr>
          <p:cNvPicPr>
            <a:picLocks noChangeAspect="1"/>
          </p:cNvPicPr>
          <p:nvPr/>
        </p:nvPicPr>
        <p:blipFill>
          <a:blip r:embed="rId2"/>
          <a:srcRect t="56749" r="53618"/>
          <a:stretch>
            <a:fillRect/>
          </a:stretch>
        </p:blipFill>
        <p:spPr>
          <a:xfrm>
            <a:off x="884454" y="1204123"/>
            <a:ext cx="4629333" cy="2485977"/>
          </a:xfrm>
          <a:prstGeom prst="rect">
            <a:avLst/>
          </a:prstGeom>
        </p:spPr>
      </p:pic>
      <p:pic>
        <p:nvPicPr>
          <p:cNvPr id="7" name="Picture 6">
            <a:extLst>
              <a:ext uri="{FF2B5EF4-FFF2-40B4-BE49-F238E27FC236}">
                <a16:creationId xmlns:a16="http://schemas.microsoft.com/office/drawing/2014/main" id="{FE3C6B94-0790-5112-CC74-D8C43895FF81}"/>
              </a:ext>
            </a:extLst>
          </p:cNvPr>
          <p:cNvPicPr>
            <a:picLocks noChangeAspect="1"/>
          </p:cNvPicPr>
          <p:nvPr/>
        </p:nvPicPr>
        <p:blipFill>
          <a:blip r:embed="rId2"/>
          <a:srcRect l="-24" t="13093" r="50654" b="42684"/>
          <a:stretch>
            <a:fillRect/>
          </a:stretch>
        </p:blipFill>
        <p:spPr>
          <a:xfrm>
            <a:off x="884454" y="3878195"/>
            <a:ext cx="4629333" cy="2882889"/>
          </a:xfrm>
          <a:prstGeom prst="rect">
            <a:avLst/>
          </a:prstGeom>
        </p:spPr>
      </p:pic>
      <p:sp>
        <p:nvSpPr>
          <p:cNvPr id="9" name="TextBox 8">
            <a:extLst>
              <a:ext uri="{FF2B5EF4-FFF2-40B4-BE49-F238E27FC236}">
                <a16:creationId xmlns:a16="http://schemas.microsoft.com/office/drawing/2014/main" id="{61243CA9-6C76-7D73-D06D-A8B625FFB499}"/>
              </a:ext>
            </a:extLst>
          </p:cNvPr>
          <p:cNvSpPr txBox="1"/>
          <p:nvPr/>
        </p:nvSpPr>
        <p:spPr>
          <a:xfrm>
            <a:off x="5753870" y="1300128"/>
            <a:ext cx="6351411" cy="563231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Investor Insights Analysis</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Age Group Analysis shows that investment participation is distributed across all age groups, with higher average SIP contributions observed among experienced and senior investors.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State-wise Investment Analysis highlights the geographical distribution of investments, indicating strong participation from multiple states across India.</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results demonstrate widespread adoption of mutual fund investments and growing investor awareness across different demographic segments.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Investors from all age groups actively participate in mutual fund investments.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Senior investors contribute comparatively higher average SIP amounts.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Investment activity is geographically diversified across several Indian states.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Mutual funds are increasingly being adopted as a preferred long-term investment option.</a:t>
            </a:r>
          </a:p>
        </p:txBody>
      </p:sp>
    </p:spTree>
    <p:extLst>
      <p:ext uri="{BB962C8B-B14F-4D97-AF65-F5344CB8AC3E}">
        <p14:creationId xmlns:p14="http://schemas.microsoft.com/office/powerpoint/2010/main" val="124984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4BD9C-8FB0-8D6E-6214-9F91316D2864}"/>
              </a:ext>
            </a:extLst>
          </p:cNvPr>
          <p:cNvSpPr>
            <a:spLocks noGrp="1"/>
          </p:cNvSpPr>
          <p:nvPr>
            <p:ph type="title"/>
          </p:nvPr>
        </p:nvSpPr>
        <p:spPr>
          <a:xfrm>
            <a:off x="829621" y="344035"/>
            <a:ext cx="10003473" cy="594701"/>
          </a:xfrm>
        </p:spPr>
        <p:txBody>
          <a:bodyPr>
            <a:normAutofit fontScale="90000"/>
          </a:bodyPr>
          <a:lstStyle/>
          <a:p>
            <a:r>
              <a:rPr lang="en-IN" dirty="0"/>
              <a:t>Performance Metrics Analysis</a:t>
            </a:r>
            <a:br>
              <a:rPr lang="en-IN" b="1" dirty="0"/>
            </a:br>
            <a:endParaRPr lang="en-US" dirty="0"/>
          </a:p>
        </p:txBody>
      </p:sp>
      <p:pic>
        <p:nvPicPr>
          <p:cNvPr id="5" name="Picture 4">
            <a:extLst>
              <a:ext uri="{FF2B5EF4-FFF2-40B4-BE49-F238E27FC236}">
                <a16:creationId xmlns:a16="http://schemas.microsoft.com/office/drawing/2014/main" id="{D561EAD8-47AD-4657-5425-A5EAD468250F}"/>
              </a:ext>
            </a:extLst>
          </p:cNvPr>
          <p:cNvPicPr>
            <a:picLocks noChangeAspect="1"/>
          </p:cNvPicPr>
          <p:nvPr/>
        </p:nvPicPr>
        <p:blipFill>
          <a:blip r:embed="rId2"/>
          <a:stretch>
            <a:fillRect/>
          </a:stretch>
        </p:blipFill>
        <p:spPr>
          <a:xfrm>
            <a:off x="829622" y="1032105"/>
            <a:ext cx="5623645" cy="2858135"/>
          </a:xfrm>
          <a:prstGeom prst="rect">
            <a:avLst/>
          </a:prstGeom>
        </p:spPr>
      </p:pic>
      <p:pic>
        <p:nvPicPr>
          <p:cNvPr id="7" name="Picture 6">
            <a:extLst>
              <a:ext uri="{FF2B5EF4-FFF2-40B4-BE49-F238E27FC236}">
                <a16:creationId xmlns:a16="http://schemas.microsoft.com/office/drawing/2014/main" id="{4861BDCA-F95F-A3DD-24F1-86DFD1892270}"/>
              </a:ext>
            </a:extLst>
          </p:cNvPr>
          <p:cNvPicPr>
            <a:picLocks noChangeAspect="1"/>
          </p:cNvPicPr>
          <p:nvPr/>
        </p:nvPicPr>
        <p:blipFill>
          <a:blip r:embed="rId3"/>
          <a:stretch>
            <a:fillRect/>
          </a:stretch>
        </p:blipFill>
        <p:spPr>
          <a:xfrm>
            <a:off x="829621" y="4055641"/>
            <a:ext cx="5818908" cy="2957375"/>
          </a:xfrm>
          <a:prstGeom prst="rect">
            <a:avLst/>
          </a:prstGeom>
        </p:spPr>
      </p:pic>
      <p:sp>
        <p:nvSpPr>
          <p:cNvPr id="9" name="TextBox 8">
            <a:extLst>
              <a:ext uri="{FF2B5EF4-FFF2-40B4-BE49-F238E27FC236}">
                <a16:creationId xmlns:a16="http://schemas.microsoft.com/office/drawing/2014/main" id="{5428AF03-705A-883E-F0AE-BC79EC9B9902}"/>
              </a:ext>
            </a:extLst>
          </p:cNvPr>
          <p:cNvSpPr txBox="1"/>
          <p:nvPr/>
        </p:nvSpPr>
        <p:spPr>
          <a:xfrm>
            <a:off x="6856846" y="1204122"/>
            <a:ext cx="5431780" cy="5286062"/>
          </a:xfrm>
          <a:prstGeom prst="rect">
            <a:avLst/>
          </a:prstGeom>
          <a:noFill/>
        </p:spPr>
        <p:txBody>
          <a:bodyPr wrap="square">
            <a:spAutoFit/>
          </a:bodyPr>
          <a:lstStyle/>
          <a:p>
            <a:pPr>
              <a:buNone/>
            </a:pPr>
            <a:r>
              <a:rPr lang="en-IN" sz="1875" b="1" dirty="0">
                <a:latin typeface="Times New Roman" panose="02020603050405020304" pitchFamily="18" charset="0"/>
                <a:cs typeface="Times New Roman" panose="02020603050405020304" pitchFamily="18" charset="0"/>
              </a:rPr>
              <a:t>Performance Metrics Analysis</a:t>
            </a:r>
            <a:endParaRPr lang="en-IN" sz="1875"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Risk-adjusted performance was evaluated using advanced financial metrics.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 Sortino Ratio identifies funds that generate higher returns while minimizing downside risk.</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 Risk-Return Scatter Plot compares expected returns against portfolio risk, helping identify efficient investment options.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These metrics provide a more comprehensive evaluation than absolute returns alone.</a:t>
            </a:r>
          </a:p>
          <a:p>
            <a:pPr>
              <a:buNone/>
            </a:pPr>
            <a:endParaRPr lang="en-IN" sz="1875" b="1" dirty="0">
              <a:latin typeface="Times New Roman" panose="02020603050405020304" pitchFamily="18" charset="0"/>
              <a:cs typeface="Times New Roman" panose="02020603050405020304" pitchFamily="18" charset="0"/>
            </a:endParaRPr>
          </a:p>
          <a:p>
            <a:pPr>
              <a:buNone/>
            </a:pPr>
            <a:r>
              <a:rPr lang="en-IN" sz="1875" b="1" dirty="0">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Several funds consistently achieved superior risk-adjusted returns.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Higher returns are generally associated with higher risk levels.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Investors should balance risk and return when selecting mutual funds.</a:t>
            </a:r>
          </a:p>
        </p:txBody>
      </p:sp>
    </p:spTree>
    <p:extLst>
      <p:ext uri="{BB962C8B-B14F-4D97-AF65-F5344CB8AC3E}">
        <p14:creationId xmlns:p14="http://schemas.microsoft.com/office/powerpoint/2010/main" val="3427690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7D74-9F7D-9A08-82F8-6A43A97B27AB}"/>
              </a:ext>
            </a:extLst>
          </p:cNvPr>
          <p:cNvSpPr>
            <a:spLocks noGrp="1"/>
          </p:cNvSpPr>
          <p:nvPr>
            <p:ph type="title"/>
          </p:nvPr>
        </p:nvSpPr>
        <p:spPr>
          <a:xfrm>
            <a:off x="909014" y="410196"/>
            <a:ext cx="10003473" cy="767462"/>
          </a:xfrm>
        </p:spPr>
        <p:txBody>
          <a:bodyPr>
            <a:normAutofit fontScale="90000"/>
          </a:bodyPr>
          <a:lstStyle/>
          <a:p>
            <a:r>
              <a:rPr lang="en-IN" dirty="0">
                <a:cs typeface="Times New Roman" panose="02020603050405020304" pitchFamily="18" charset="0"/>
              </a:rPr>
              <a:t>Advanced Analytics &amp; Portfolio Insights</a:t>
            </a:r>
            <a:br>
              <a:rPr lang="en-I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D9717A9-65DA-2448-3EF9-8EC5BC9F92A7}"/>
              </a:ext>
            </a:extLst>
          </p:cNvPr>
          <p:cNvPicPr>
            <a:picLocks noChangeAspect="1"/>
          </p:cNvPicPr>
          <p:nvPr/>
        </p:nvPicPr>
        <p:blipFill>
          <a:blip r:embed="rId2"/>
          <a:srcRect l="4000" t="6800" b="12800"/>
          <a:stretch>
            <a:fillRect/>
          </a:stretch>
        </p:blipFill>
        <p:spPr>
          <a:xfrm>
            <a:off x="909016" y="1177658"/>
            <a:ext cx="4088720" cy="2445930"/>
          </a:xfrm>
          <a:prstGeom prst="rect">
            <a:avLst/>
          </a:prstGeom>
        </p:spPr>
      </p:pic>
      <p:pic>
        <p:nvPicPr>
          <p:cNvPr id="7" name="Picture 6">
            <a:extLst>
              <a:ext uri="{FF2B5EF4-FFF2-40B4-BE49-F238E27FC236}">
                <a16:creationId xmlns:a16="http://schemas.microsoft.com/office/drawing/2014/main" id="{57D22B7F-09DF-3DFA-B9B1-AFF1E2F188BE}"/>
              </a:ext>
            </a:extLst>
          </p:cNvPr>
          <p:cNvPicPr>
            <a:picLocks noChangeAspect="1"/>
          </p:cNvPicPr>
          <p:nvPr/>
        </p:nvPicPr>
        <p:blipFill>
          <a:blip r:embed="rId3"/>
          <a:stretch>
            <a:fillRect/>
          </a:stretch>
        </p:blipFill>
        <p:spPr>
          <a:xfrm>
            <a:off x="750229" y="3850543"/>
            <a:ext cx="5496013" cy="3035103"/>
          </a:xfrm>
          <a:prstGeom prst="rect">
            <a:avLst/>
          </a:prstGeom>
        </p:spPr>
      </p:pic>
      <p:sp>
        <p:nvSpPr>
          <p:cNvPr id="9" name="TextBox 8">
            <a:extLst>
              <a:ext uri="{FF2B5EF4-FFF2-40B4-BE49-F238E27FC236}">
                <a16:creationId xmlns:a16="http://schemas.microsoft.com/office/drawing/2014/main" id="{3F8C2449-39B9-0E1B-A69F-B909B26D8D5E}"/>
              </a:ext>
            </a:extLst>
          </p:cNvPr>
          <p:cNvSpPr txBox="1"/>
          <p:nvPr/>
        </p:nvSpPr>
        <p:spPr>
          <a:xfrm>
            <a:off x="6480148" y="1105351"/>
            <a:ext cx="5883599" cy="2977738"/>
          </a:xfrm>
          <a:prstGeom prst="rect">
            <a:avLst/>
          </a:prstGeom>
          <a:noFill/>
        </p:spPr>
        <p:txBody>
          <a:bodyPr wrap="square">
            <a:spAutoFit/>
          </a:bodyPr>
          <a:lstStyle/>
          <a:p>
            <a:pPr>
              <a:buNone/>
            </a:pPr>
            <a:r>
              <a:rPr lang="en-IN" sz="1875" b="1" dirty="0">
                <a:latin typeface="Times New Roman" panose="02020603050405020304" pitchFamily="18" charset="0"/>
                <a:cs typeface="Times New Roman" panose="02020603050405020304" pitchFamily="18" charset="0"/>
              </a:rPr>
              <a:t>Advanced Analytics &amp; Portfolio Insights</a:t>
            </a:r>
            <a:endParaRPr lang="en-IN" sz="1875"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Sector Allocation Analysis evaluates portfolio diversification across different market sectors.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 Herfindahl-Hirschman Index (HHI) helps identify concentration risk within mutual fund portfolios.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CAGR (Compound Annual Growth Rate) analysis highlights funds that have delivered consistent long-term growth.</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These analytics provide deeper insights into portfolio quality and investment sustainability.</a:t>
            </a:r>
          </a:p>
        </p:txBody>
      </p:sp>
      <p:sp>
        <p:nvSpPr>
          <p:cNvPr id="11" name="TextBox 10">
            <a:extLst>
              <a:ext uri="{FF2B5EF4-FFF2-40B4-BE49-F238E27FC236}">
                <a16:creationId xmlns:a16="http://schemas.microsoft.com/office/drawing/2014/main" id="{DDD64616-2FE5-7933-7C0B-02CE16B950F1}"/>
              </a:ext>
            </a:extLst>
          </p:cNvPr>
          <p:cNvSpPr txBox="1"/>
          <p:nvPr/>
        </p:nvSpPr>
        <p:spPr>
          <a:xfrm>
            <a:off x="6480149" y="4197867"/>
            <a:ext cx="5496014" cy="2689198"/>
          </a:xfrm>
          <a:prstGeom prst="rect">
            <a:avLst/>
          </a:prstGeom>
          <a:noFill/>
        </p:spPr>
        <p:txBody>
          <a:bodyPr wrap="square">
            <a:spAutoFit/>
          </a:bodyPr>
          <a:lstStyle/>
          <a:p>
            <a:pPr>
              <a:buNone/>
            </a:pPr>
            <a:r>
              <a:rPr lang="en-IN" sz="1875" b="1" dirty="0">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Banking, IT, and Pharma sectors represent major portfolio allocations.</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Most portfolios maintain diversified sector exposure, reducing concentration risk.</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Top-performing funds achieved strong long-term CAGR, indicating consistent wealth creation potential.</a:t>
            </a:r>
          </a:p>
          <a:p>
            <a:pPr>
              <a:buFont typeface="Arial" panose="020B0604020202020204" pitchFamily="34" charset="0"/>
              <a:buChar char="•"/>
            </a:pPr>
            <a:r>
              <a:rPr lang="en-IN" sz="1875" dirty="0">
                <a:latin typeface="Times New Roman" panose="02020603050405020304" pitchFamily="18" charset="0"/>
                <a:cs typeface="Times New Roman" panose="02020603050405020304" pitchFamily="18" charset="0"/>
              </a:rPr>
              <a:t>Diversification and long-term performance are important factors for fund selection.</a:t>
            </a:r>
          </a:p>
        </p:txBody>
      </p:sp>
    </p:spTree>
    <p:extLst>
      <p:ext uri="{BB962C8B-B14F-4D97-AF65-F5344CB8AC3E}">
        <p14:creationId xmlns:p14="http://schemas.microsoft.com/office/powerpoint/2010/main" val="3435727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C5B02-3CBD-2D6A-5356-07D9DD7F97FF}"/>
              </a:ext>
            </a:extLst>
          </p:cNvPr>
          <p:cNvSpPr>
            <a:spLocks noGrp="1"/>
          </p:cNvSpPr>
          <p:nvPr>
            <p:ph type="title"/>
          </p:nvPr>
        </p:nvSpPr>
        <p:spPr>
          <a:xfrm>
            <a:off x="918465" y="258026"/>
            <a:ext cx="7893898" cy="774078"/>
          </a:xfrm>
        </p:spPr>
        <p:txBody>
          <a:bodyPr>
            <a:normAutofit fontScale="90000"/>
          </a:bodyPr>
          <a:lstStyle/>
          <a:p>
            <a:r>
              <a:rPr lang="en-IN" dirty="0"/>
              <a:t>Dashboard 1 – Industry Overview</a:t>
            </a:r>
            <a:endParaRPr lang="en-US" dirty="0"/>
          </a:p>
        </p:txBody>
      </p:sp>
      <p:pic>
        <p:nvPicPr>
          <p:cNvPr id="5" name="Picture 4">
            <a:extLst>
              <a:ext uri="{FF2B5EF4-FFF2-40B4-BE49-F238E27FC236}">
                <a16:creationId xmlns:a16="http://schemas.microsoft.com/office/drawing/2014/main" id="{8D655C2C-3DF3-C8EA-84C8-141E4415B4CB}"/>
              </a:ext>
            </a:extLst>
          </p:cNvPr>
          <p:cNvPicPr>
            <a:picLocks noChangeAspect="1"/>
          </p:cNvPicPr>
          <p:nvPr/>
        </p:nvPicPr>
        <p:blipFill>
          <a:blip r:embed="rId2"/>
          <a:srcRect r="20286"/>
          <a:stretch>
            <a:fillRect/>
          </a:stretch>
        </p:blipFill>
        <p:spPr>
          <a:xfrm>
            <a:off x="1039963" y="1032104"/>
            <a:ext cx="6102960" cy="4812105"/>
          </a:xfrm>
          <a:prstGeom prst="rect">
            <a:avLst/>
          </a:prstGeom>
        </p:spPr>
      </p:pic>
      <p:sp>
        <p:nvSpPr>
          <p:cNvPr id="7" name="TextBox 6">
            <a:extLst>
              <a:ext uri="{FF2B5EF4-FFF2-40B4-BE49-F238E27FC236}">
                <a16:creationId xmlns:a16="http://schemas.microsoft.com/office/drawing/2014/main" id="{E7161C13-1BEE-F98A-9CCB-C2B346469C56}"/>
              </a:ext>
            </a:extLst>
          </p:cNvPr>
          <p:cNvSpPr txBox="1"/>
          <p:nvPr/>
        </p:nvSpPr>
        <p:spPr>
          <a:xfrm>
            <a:off x="7336591" y="1032104"/>
            <a:ext cx="4620984" cy="5909310"/>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Industry Overview Dashboard</a:t>
            </a:r>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provides a consolidated view of the Indian mutual fund industry.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Key performance indicators such as Total AUM, Monthly SIP Inflows, and Active SIP Accounts are displayed for quick analysis.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Fund house comparison enables evaluation of market leaders based on assets under management.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dashboard supports monitoring of industry growth and investor participation trends.</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Industry AUM has grown significantly over the analysis period.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SIP inflows continue to increase, indicating strong retail investor participation.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Leading fund houses contribute a substantial share of total industry assets.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Growth in active SIP accounts reflects increasing investor confidence.</a:t>
            </a:r>
          </a:p>
        </p:txBody>
      </p:sp>
    </p:spTree>
    <p:extLst>
      <p:ext uri="{BB962C8B-B14F-4D97-AF65-F5344CB8AC3E}">
        <p14:creationId xmlns:p14="http://schemas.microsoft.com/office/powerpoint/2010/main" val="1937420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E221-020C-5044-C643-8814EAAB13B1}"/>
              </a:ext>
            </a:extLst>
          </p:cNvPr>
          <p:cNvSpPr>
            <a:spLocks noGrp="1"/>
          </p:cNvSpPr>
          <p:nvPr>
            <p:ph type="title"/>
          </p:nvPr>
        </p:nvSpPr>
        <p:spPr>
          <a:xfrm>
            <a:off x="1040295" y="343474"/>
            <a:ext cx="9601200" cy="650440"/>
          </a:xfrm>
        </p:spPr>
        <p:txBody>
          <a:bodyPr>
            <a:normAutofit fontScale="90000"/>
          </a:bodyPr>
          <a:lstStyle/>
          <a:p>
            <a:r>
              <a:rPr lang="en-IN" dirty="0"/>
              <a:t>Dashboard 2 – Fund Performance Analysis</a:t>
            </a:r>
            <a:br>
              <a:rPr lang="en-IN" dirty="0"/>
            </a:br>
            <a:endParaRPr lang="en-US" dirty="0"/>
          </a:p>
        </p:txBody>
      </p:sp>
      <p:pic>
        <p:nvPicPr>
          <p:cNvPr id="5" name="Picture 4">
            <a:extLst>
              <a:ext uri="{FF2B5EF4-FFF2-40B4-BE49-F238E27FC236}">
                <a16:creationId xmlns:a16="http://schemas.microsoft.com/office/drawing/2014/main" id="{C8DA18FC-475A-79B0-47CF-63E97E2D0F5E}"/>
              </a:ext>
            </a:extLst>
          </p:cNvPr>
          <p:cNvPicPr>
            <a:picLocks noChangeAspect="1"/>
          </p:cNvPicPr>
          <p:nvPr/>
        </p:nvPicPr>
        <p:blipFill>
          <a:blip r:embed="rId2"/>
          <a:srcRect r="20972"/>
          <a:stretch>
            <a:fillRect/>
          </a:stretch>
        </p:blipFill>
        <p:spPr>
          <a:xfrm>
            <a:off x="1040295" y="1155070"/>
            <a:ext cx="6142383" cy="4723216"/>
          </a:xfrm>
          <a:prstGeom prst="rect">
            <a:avLst/>
          </a:prstGeom>
        </p:spPr>
      </p:pic>
      <p:sp>
        <p:nvSpPr>
          <p:cNvPr id="7" name="TextBox 6">
            <a:extLst>
              <a:ext uri="{FF2B5EF4-FFF2-40B4-BE49-F238E27FC236}">
                <a16:creationId xmlns:a16="http://schemas.microsoft.com/office/drawing/2014/main" id="{FEF7D219-7AF3-6805-6A51-D30DD6307625}"/>
              </a:ext>
            </a:extLst>
          </p:cNvPr>
          <p:cNvSpPr txBox="1"/>
          <p:nvPr/>
        </p:nvSpPr>
        <p:spPr>
          <a:xfrm>
            <a:off x="7182678" y="1155070"/>
            <a:ext cx="4744279" cy="5355312"/>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The Fund Performance Dashboard evaluates mutual fund schemes using key financial performance indicators such as returns, Sharpe Ratio, Alpha, Beta, and risk categories. It enables comparison of different schemes and helps identify funds delivering superior risk-adjusted performance.</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Several funds outperformed their benchmark returns over the analysis period.</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Higher Sharpe Ratio funds demonstrated better risk-adjusted performance.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Large-cap funds showed relatively stable returns with moderate risk.</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Small-cap funds generated higher returns but were associated with greater volatility.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Performance metrics provide a comprehensive basis for fund selection.</a:t>
            </a:r>
          </a:p>
        </p:txBody>
      </p:sp>
    </p:spTree>
    <p:extLst>
      <p:ext uri="{BB962C8B-B14F-4D97-AF65-F5344CB8AC3E}">
        <p14:creationId xmlns:p14="http://schemas.microsoft.com/office/powerpoint/2010/main" val="2041262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5597-5438-D7C8-89D9-7A7045A79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158B5-5993-D45F-0E80-6EB0272D7550}"/>
              </a:ext>
            </a:extLst>
          </p:cNvPr>
          <p:cNvSpPr>
            <a:spLocks noGrp="1"/>
          </p:cNvSpPr>
          <p:nvPr>
            <p:ph type="title"/>
          </p:nvPr>
        </p:nvSpPr>
        <p:spPr>
          <a:xfrm>
            <a:off x="1040295" y="343474"/>
            <a:ext cx="9601200" cy="650440"/>
          </a:xfrm>
        </p:spPr>
        <p:txBody>
          <a:bodyPr>
            <a:normAutofit fontScale="90000"/>
          </a:bodyPr>
          <a:lstStyle/>
          <a:p>
            <a:r>
              <a:rPr lang="en-IN" dirty="0"/>
              <a:t>Dashboard 3 – Investor Analytics </a:t>
            </a:r>
            <a:br>
              <a:rPr lang="en-IN" dirty="0"/>
            </a:br>
            <a:endParaRPr lang="en-US" dirty="0"/>
          </a:p>
        </p:txBody>
      </p:sp>
      <p:pic>
        <p:nvPicPr>
          <p:cNvPr id="4" name="Picture 3">
            <a:extLst>
              <a:ext uri="{FF2B5EF4-FFF2-40B4-BE49-F238E27FC236}">
                <a16:creationId xmlns:a16="http://schemas.microsoft.com/office/drawing/2014/main" id="{A5DD0D1D-7937-5E64-2D90-2182D6A01D7B}"/>
              </a:ext>
            </a:extLst>
          </p:cNvPr>
          <p:cNvPicPr>
            <a:picLocks noChangeAspect="1"/>
          </p:cNvPicPr>
          <p:nvPr/>
        </p:nvPicPr>
        <p:blipFill>
          <a:blip r:embed="rId2"/>
          <a:stretch>
            <a:fillRect/>
          </a:stretch>
        </p:blipFill>
        <p:spPr>
          <a:xfrm>
            <a:off x="865632" y="1334724"/>
            <a:ext cx="5900928" cy="4475890"/>
          </a:xfrm>
          <a:prstGeom prst="rect">
            <a:avLst/>
          </a:prstGeom>
        </p:spPr>
      </p:pic>
      <p:sp>
        <p:nvSpPr>
          <p:cNvPr id="8" name="TextBox 7">
            <a:extLst>
              <a:ext uri="{FF2B5EF4-FFF2-40B4-BE49-F238E27FC236}">
                <a16:creationId xmlns:a16="http://schemas.microsoft.com/office/drawing/2014/main" id="{81D85D31-8B62-24C9-DC87-D5FA13DEE451}"/>
              </a:ext>
            </a:extLst>
          </p:cNvPr>
          <p:cNvSpPr txBox="1"/>
          <p:nvPr/>
        </p:nvSpPr>
        <p:spPr>
          <a:xfrm>
            <a:off x="6888480" y="1172012"/>
            <a:ext cx="4986528" cy="5355312"/>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The Investor Analytics Dashboard provides insights into investor demographics, transaction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income distribution, and geographic participation. It helps understand investment patterns across different age groups, regions, and investor segments.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Investors aged 26–45 years represented a significant share of investment activity.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Mutual fund participation was observed across multiple states and regions.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Digital payment methods were widely adopted for investment transactions.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Investors from different income groups actively contributed to mutual fund investments.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Growing retail participation indicates increasing awareness of financial planning and wealth creation.</a:t>
            </a:r>
          </a:p>
        </p:txBody>
      </p:sp>
    </p:spTree>
    <p:extLst>
      <p:ext uri="{BB962C8B-B14F-4D97-AF65-F5344CB8AC3E}">
        <p14:creationId xmlns:p14="http://schemas.microsoft.com/office/powerpoint/2010/main" val="3680911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D667C-9B1D-7794-921F-1179C68EF84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7D0E7A-2190-DC52-98B7-98AD7F835E48}"/>
              </a:ext>
            </a:extLst>
          </p:cNvPr>
          <p:cNvSpPr>
            <a:spLocks noGrp="1"/>
          </p:cNvSpPr>
          <p:nvPr>
            <p:ph type="title"/>
          </p:nvPr>
        </p:nvSpPr>
        <p:spPr>
          <a:xfrm>
            <a:off x="1018032" y="348775"/>
            <a:ext cx="9601200" cy="821658"/>
          </a:xfrm>
        </p:spPr>
        <p:txBody>
          <a:bodyPr/>
          <a:lstStyle/>
          <a:p>
            <a:r>
              <a:rPr lang="en-US" dirty="0"/>
              <a:t>Key Findings and Recommendations</a:t>
            </a:r>
          </a:p>
        </p:txBody>
      </p:sp>
      <p:sp>
        <p:nvSpPr>
          <p:cNvPr id="10" name="TextBox 9">
            <a:extLst>
              <a:ext uri="{FF2B5EF4-FFF2-40B4-BE49-F238E27FC236}">
                <a16:creationId xmlns:a16="http://schemas.microsoft.com/office/drawing/2014/main" id="{44F0BBBF-5635-701E-A885-1B19BB314E4A}"/>
              </a:ext>
            </a:extLst>
          </p:cNvPr>
          <p:cNvSpPr txBox="1"/>
          <p:nvPr/>
        </p:nvSpPr>
        <p:spPr>
          <a:xfrm>
            <a:off x="1018032" y="1170433"/>
            <a:ext cx="8912352" cy="5443991"/>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Key Findings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Industry AUM demonstrated consistent growth.</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SIP inflows increased significantly over the analysis period.</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Retail investor participation expanded across multiple age groups and regions.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Risk-adjusted metrics provided deeper insights into fund performance.</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Diversified portfolios showed lower concentration risk.</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analytics enables more informed investment decision-making.</a:t>
            </a:r>
          </a:p>
          <a:p>
            <a:pPr>
              <a:lnSpc>
                <a:spcPct val="150000"/>
              </a:lnSpc>
              <a:buNone/>
            </a:pPr>
            <a:endParaRPr lang="en-IN" b="1" dirty="0">
              <a:latin typeface="Times New Roman" panose="02020603050405020304" pitchFamily="18" charset="0"/>
              <a:cs typeface="Times New Roman" panose="02020603050405020304" pitchFamily="18" charset="0"/>
            </a:endParaRPr>
          </a:p>
          <a:p>
            <a:pPr>
              <a:lnSpc>
                <a:spcPct val="150000"/>
              </a:lnSpc>
              <a:buNone/>
            </a:pPr>
            <a:r>
              <a:rPr lang="en-IN" b="1" dirty="0">
                <a:latin typeface="Times New Roman" panose="02020603050405020304" pitchFamily="18" charset="0"/>
                <a:cs typeface="Times New Roman" panose="02020603050405020304" pitchFamily="18" charset="0"/>
              </a:rPr>
              <a:t>Recommendations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Encourage long-term SIP investing.</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Promote portfolio diversification.</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risk-adjusted metrics while evaluating funds.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investor awareness and financial education initiatives.</a:t>
            </a:r>
          </a:p>
        </p:txBody>
      </p:sp>
    </p:spTree>
    <p:extLst>
      <p:ext uri="{BB962C8B-B14F-4D97-AF65-F5344CB8AC3E}">
        <p14:creationId xmlns:p14="http://schemas.microsoft.com/office/powerpoint/2010/main" val="2866797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C9E3B9-7D2F-9250-B938-F825CBF5D5A1}"/>
              </a:ext>
            </a:extLst>
          </p:cNvPr>
          <p:cNvSpPr txBox="1"/>
          <p:nvPr/>
        </p:nvSpPr>
        <p:spPr>
          <a:xfrm>
            <a:off x="1011936" y="1725597"/>
            <a:ext cx="10753344" cy="3631763"/>
          </a:xfrm>
          <a:prstGeom prst="rect">
            <a:avLst/>
          </a:prstGeom>
          <a:noFill/>
        </p:spPr>
        <p:txBody>
          <a:bodyPr wrap="square">
            <a:spAutoFit/>
          </a:bodyPr>
          <a:lstStyle/>
          <a:p>
            <a:pPr algn="ctr">
              <a:buNone/>
            </a:pPr>
            <a:r>
              <a:rPr lang="en-IN" sz="3200" dirty="0"/>
              <a:t>Thank You</a:t>
            </a:r>
          </a:p>
          <a:p>
            <a:pPr>
              <a:buNone/>
            </a:pPr>
            <a:br>
              <a:rPr lang="en-IN" dirty="0"/>
            </a:br>
            <a:endParaRPr lang="en-IN" dirty="0"/>
          </a:p>
          <a:p>
            <a:pPr>
              <a:buNone/>
            </a:pPr>
            <a:r>
              <a:rPr lang="en-IN" b="1" dirty="0" err="1"/>
              <a:t>Bluestock</a:t>
            </a:r>
            <a:r>
              <a:rPr lang="en-IN" b="1" dirty="0"/>
              <a:t> Mutual Fund Analytics Platform</a:t>
            </a:r>
            <a:endParaRPr lang="en-IN" dirty="0"/>
          </a:p>
          <a:p>
            <a:pPr>
              <a:buNone/>
            </a:pPr>
            <a:br>
              <a:rPr lang="en-IN" dirty="0"/>
            </a:br>
            <a:endParaRPr lang="en-IN" dirty="0"/>
          </a:p>
          <a:p>
            <a:pPr>
              <a:buNone/>
            </a:pPr>
            <a:r>
              <a:rPr lang="en-IN" dirty="0"/>
              <a:t>Prepared By</a:t>
            </a:r>
            <a:br>
              <a:rPr lang="en-IN" dirty="0"/>
            </a:br>
            <a:r>
              <a:rPr lang="en-IN" b="1" dirty="0"/>
              <a:t>Anushika Kapoor</a:t>
            </a:r>
            <a:r>
              <a:rPr lang="en-IN" dirty="0"/>
              <a:t> </a:t>
            </a:r>
          </a:p>
          <a:p>
            <a:pPr>
              <a:buNone/>
            </a:pPr>
            <a:br>
              <a:rPr lang="en-IN" dirty="0"/>
            </a:br>
            <a:endParaRPr lang="en-IN" dirty="0"/>
          </a:p>
          <a:p>
            <a:pPr>
              <a:buNone/>
            </a:pPr>
            <a:r>
              <a:rPr lang="en-IN" b="1" dirty="0"/>
              <a:t>GitHub Repository:</a:t>
            </a:r>
            <a:br>
              <a:rPr lang="en-IN" dirty="0"/>
            </a:br>
            <a:r>
              <a:rPr lang="en-IN" dirty="0">
                <a:latin typeface="Courier New" panose="02070309020205020404" pitchFamily="49" charset="0"/>
              </a:rPr>
              <a:t>https://</a:t>
            </a:r>
            <a:r>
              <a:rPr lang="en-IN" dirty="0" err="1">
                <a:latin typeface="Courier New" panose="02070309020205020404" pitchFamily="49" charset="0"/>
              </a:rPr>
              <a:t>github.com</a:t>
            </a:r>
            <a:r>
              <a:rPr lang="en-IN" dirty="0">
                <a:latin typeface="Courier New" panose="02070309020205020404" pitchFamily="49" charset="0"/>
              </a:rPr>
              <a:t>/kapooranushika0512/</a:t>
            </a:r>
            <a:r>
              <a:rPr lang="en-IN" dirty="0" err="1">
                <a:latin typeface="Courier New" panose="02070309020205020404" pitchFamily="49" charset="0"/>
              </a:rPr>
              <a:t>bluestock</a:t>
            </a:r>
            <a:r>
              <a:rPr lang="en-IN" dirty="0">
                <a:latin typeface="Courier New" panose="02070309020205020404" pitchFamily="49" charset="0"/>
              </a:rPr>
              <a:t>-mf-capstone</a:t>
            </a:r>
            <a:endParaRPr lang="en-IN" dirty="0"/>
          </a:p>
        </p:txBody>
      </p:sp>
    </p:spTree>
    <p:extLst>
      <p:ext uri="{BB962C8B-B14F-4D97-AF65-F5344CB8AC3E}">
        <p14:creationId xmlns:p14="http://schemas.microsoft.com/office/powerpoint/2010/main" val="219042671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79</TotalTime>
  <Words>1041</Words>
  <Application>Microsoft Macintosh PowerPoint</Application>
  <PresentationFormat>Custom</PresentationFormat>
  <Paragraphs>128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Courier New</vt:lpstr>
      <vt:lpstr>Franklin Gothic Book</vt:lpstr>
      <vt:lpstr>Times New Roman</vt:lpstr>
      <vt:lpstr>Crop</vt:lpstr>
      <vt:lpstr>PowerPoint Presentation</vt:lpstr>
      <vt:lpstr>Problem Statement &amp; Objectives</vt:lpstr>
      <vt:lpstr>Data Sources </vt:lpstr>
      <vt:lpstr>System Architecture </vt:lpstr>
      <vt:lpstr>Exploratory Data Analysis – Industry Trends</vt:lpstr>
      <vt:lpstr>Exploratory Data Analysis – Investor Insights </vt:lpstr>
      <vt:lpstr>Performance Metrics Analysis </vt:lpstr>
      <vt:lpstr>Advanced Analytics &amp; Portfolio Insights </vt:lpstr>
      <vt:lpstr>Dashboard 1 – Industry Overview</vt:lpstr>
      <vt:lpstr>Dashboard 2 – Fund Performance Analysis </vt:lpstr>
      <vt:lpstr>Dashboard 3 – Investor Analytics  </vt:lpstr>
      <vt:lpstr>Key Findings and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ANUSHIKA KAPOOR</dc:creator>
  <cp:lastModifiedBy>ANUSHIKA KAPOOR</cp:lastModifiedBy>
  <cp:revision>1</cp:revision>
  <cp:lastPrinted>2026-06-11T18:20:43Z</cp:lastPrinted>
  <dcterms:created xsi:type="dcterms:W3CDTF">2026-06-11T17:01:59Z</dcterms:created>
  <dcterms:modified xsi:type="dcterms:W3CDTF">2026-06-11T18:21:00Z</dcterms:modified>
</cp:coreProperties>
</file>